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3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CD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68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lidera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233" y="548640"/>
            <a:ext cx="1957629" cy="1965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2743200"/>
            <a:ext cx="1033272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Portal da Câmara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931920"/>
            <a:ext cx="96012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DDE6F6"/>
                </a:solidFill>
                <a:latin typeface="Calibri"/>
              </a:rPr>
              <a:t>A plataforma digital completa, acessível e em conformidade com a lei para o seu Legislativo municipal.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2080"/>
            <a:ext cx="1033272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CD07"/>
                </a:solidFill>
                <a:latin typeface="Calibri"/>
              </a:rPr>
              <a:t>Selo Diamante (PNTP) · Multi-tenant · Gov.br · LGPD · IA em Produção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CFDAEE"/>
                </a:solidFill>
                <a:latin typeface="Calibri"/>
              </a:rPr>
              <a:t>comercial@lideratecnologia.com.br   ·   www.lideratecnologia.com.br   ·   Demo: camara.lidera.app.br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5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02920"/>
            <a:ext cx="822960" cy="54864"/>
          </a:xfrm>
          <a:prstGeom prst="rect">
            <a:avLst/>
          </a:prstGeom>
          <a:solidFill>
            <a:srgbClr val="FFCD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351B4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6868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C326F"/>
                </a:solidFill>
                <a:latin typeface="Calibri"/>
              </a:rPr>
              <a:t>O que você vai 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1351B4"/>
                </a:solidFill>
                <a:latin typeface="Calibri"/>
              </a:rPr>
              <a:t>▸  </a:t>
            </a:r>
            <a:r>
              <a:rPr sz="1700">
                <a:solidFill>
                  <a:srgbClr val="333942"/>
                </a:solidFill>
                <a:latin typeface="Calibri"/>
              </a:rPr>
              <a:t>O desafio das câmaras hoje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1351B4"/>
                </a:solidFill>
                <a:latin typeface="Calibri"/>
              </a:rPr>
              <a:t>▸  </a:t>
            </a:r>
            <a:r>
              <a:rPr sz="1700">
                <a:solidFill>
                  <a:srgbClr val="333942"/>
                </a:solidFill>
                <a:latin typeface="Calibri"/>
              </a:rPr>
              <a:t>A plataforma e a arquitetura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1351B4"/>
                </a:solidFill>
                <a:latin typeface="Calibri"/>
              </a:rPr>
              <a:t>▸  </a:t>
            </a:r>
            <a:r>
              <a:rPr sz="1700">
                <a:solidFill>
                  <a:srgbClr val="333942"/>
                </a:solidFill>
                <a:latin typeface="Calibri"/>
              </a:rPr>
              <a:t>Modelo SaaS multi-tenant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1351B4"/>
                </a:solidFill>
                <a:latin typeface="Calibri"/>
              </a:rPr>
              <a:t>▸  </a:t>
            </a:r>
            <a:r>
              <a:rPr sz="1700">
                <a:solidFill>
                  <a:srgbClr val="333942"/>
                </a:solidFill>
                <a:latin typeface="Calibri"/>
              </a:rPr>
              <a:t>Módulos legislativos + transversais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1351B4"/>
                </a:solidFill>
                <a:latin typeface="Calibri"/>
              </a:rPr>
              <a:t>▸  </a:t>
            </a:r>
            <a:r>
              <a:rPr sz="1700">
                <a:solidFill>
                  <a:srgbClr val="333942"/>
                </a:solidFill>
                <a:latin typeface="Calibri"/>
              </a:rPr>
              <a:t>Conformidade legal nativa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92024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1351B4"/>
                </a:solidFill>
                <a:latin typeface="Calibri"/>
              </a:rPr>
              <a:t>▸  </a:t>
            </a:r>
            <a:r>
              <a:rPr sz="1700">
                <a:solidFill>
                  <a:srgbClr val="333942"/>
                </a:solidFill>
                <a:latin typeface="Calibri"/>
              </a:rPr>
              <a:t>Atendimento Omnichannel com IA (5 canais)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1351B4"/>
                </a:solidFill>
                <a:latin typeface="Calibri"/>
              </a:rPr>
              <a:t>▸  </a:t>
            </a:r>
            <a:r>
              <a:rPr sz="1700">
                <a:solidFill>
                  <a:srgbClr val="333942"/>
                </a:solidFill>
                <a:latin typeface="Calibri"/>
              </a:rPr>
              <a:t>Transparência: 100% PNTP (Diamante)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1351B4"/>
                </a:solidFill>
                <a:latin typeface="Calibri"/>
              </a:rPr>
              <a:t>▸  </a:t>
            </a:r>
            <a:r>
              <a:rPr sz="1700">
                <a:solidFill>
                  <a:srgbClr val="333942"/>
                </a:solidFill>
                <a:latin typeface="Calibri"/>
              </a:rPr>
              <a:t>Segurança, privacidade e LGPD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1351B4"/>
                </a:solidFill>
                <a:latin typeface="Calibri"/>
              </a:rPr>
              <a:t>▸  </a:t>
            </a:r>
            <a:r>
              <a:rPr sz="1700">
                <a:solidFill>
                  <a:srgbClr val="333942"/>
                </a:solidFill>
                <a:latin typeface="Calibri"/>
              </a:rPr>
              <a:t>App do Cidadão e IA Legislativa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1351B4"/>
                </a:solidFill>
                <a:latin typeface="Calibri"/>
              </a:rPr>
              <a:t>▸  </a:t>
            </a:r>
            <a:r>
              <a:rPr sz="1700">
                <a:solidFill>
                  <a:srgbClr val="333942"/>
                </a:solidFill>
                <a:latin typeface="Calibri"/>
              </a:rPr>
              <a:t>Caso real, implantação e próximos passos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6B8"/>
                </a:solidFill>
                <a:latin typeface="Calibri"/>
              </a:rPr>
              <a:t>Lidera Tecnologia e Gestão  ·  Portal da Câmara  ·  www.lideratecnologia.com.br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5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02920"/>
            <a:ext cx="822960" cy="54864"/>
          </a:xfrm>
          <a:prstGeom prst="rect">
            <a:avLst/>
          </a:prstGeom>
          <a:solidFill>
            <a:srgbClr val="FFCD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351B4"/>
                </a:solidFill>
                <a:latin typeface="Calibri"/>
              </a:rPr>
              <a:t>O DESAFIO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6868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C326F"/>
                </a:solidFill>
                <a:latin typeface="Calibri"/>
              </a:rPr>
              <a:t>Muita exigência legal, pouco orçamento de 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351B4"/>
                </a:solidFill>
                <a:latin typeface="Calibri"/>
              </a:rPr>
              <a:t>▸  </a:t>
            </a:r>
            <a:r>
              <a:rPr sz="1600">
                <a:solidFill>
                  <a:srgbClr val="333942"/>
                </a:solidFill>
                <a:latin typeface="Calibri"/>
              </a:rPr>
              <a:t>Produção legislativa dispersa: projetos, tramitação, votações e leis em sistemas e planilhas separados.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351B4"/>
                </a:solidFill>
                <a:latin typeface="Calibri"/>
              </a:rPr>
              <a:t>▸  </a:t>
            </a:r>
            <a:r>
              <a:rPr sz="1600">
                <a:solidFill>
                  <a:srgbClr val="333942"/>
                </a:solidFill>
                <a:latin typeface="Calibri"/>
              </a:rPr>
              <a:t>Transparência e PNTP: difícil atingir e manter o selo da Atricon com dados do Legislativo espalhados.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351B4"/>
                </a:solidFill>
                <a:latin typeface="Calibri"/>
              </a:rPr>
              <a:t>▸  </a:t>
            </a:r>
            <a:r>
              <a:rPr sz="1600">
                <a:solidFill>
                  <a:srgbClr val="333942"/>
                </a:solidFill>
                <a:latin typeface="Calibri"/>
              </a:rPr>
              <a:t>Prazos legais: e-SIC (LAI) e Ouvidoria (Lei 13.460) exigem controle que planilha não dá.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351B4"/>
                </a:solidFill>
                <a:latin typeface="Calibri"/>
              </a:rPr>
              <a:t>▸  </a:t>
            </a:r>
            <a:r>
              <a:rPr sz="1600">
                <a:solidFill>
                  <a:srgbClr val="333942"/>
                </a:solidFill>
                <a:latin typeface="Calibri"/>
              </a:rPr>
              <a:t>Acessibilidade: a lei exige WCAG/eMAG e VLibras — a maioria dos sites de câmaras não cumpre.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351B4"/>
                </a:solidFill>
                <a:latin typeface="Calibri"/>
              </a:rPr>
              <a:t>▸  </a:t>
            </a:r>
            <a:r>
              <a:rPr sz="1600">
                <a:solidFill>
                  <a:srgbClr val="333942"/>
                </a:solidFill>
                <a:latin typeface="Calibri"/>
              </a:rPr>
              <a:t>Custo e dependência: site, transparência, TV Câmara e sistema legislativo são contratos e fornecedores distintos.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351B4"/>
                </a:solidFill>
                <a:latin typeface="Calibri"/>
              </a:rPr>
              <a:t>▸  </a:t>
            </a:r>
            <a:r>
              <a:rPr sz="1600">
                <a:solidFill>
                  <a:srgbClr val="333942"/>
                </a:solidFill>
                <a:latin typeface="Calibri"/>
              </a:rPr>
              <a:t>LGPD: dados do cidadão tratados sem base legal, sem direitos do titular, sem registro de incidentes.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6B8"/>
                </a:solidFill>
                <a:latin typeface="Calibri"/>
              </a:rPr>
              <a:t>Lidera Tecnologia e Gestão  ·  Portal da Câmara  ·  www.lideratecnologia.com.br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5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02920"/>
            <a:ext cx="822960" cy="54864"/>
          </a:xfrm>
          <a:prstGeom prst="rect">
            <a:avLst/>
          </a:prstGeom>
          <a:solidFill>
            <a:srgbClr val="FFCD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351B4"/>
                </a:solidFill>
                <a:latin typeface="Calibri"/>
              </a:rPr>
              <a:t>A SOLUÇÃO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6868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C326F"/>
                </a:solidFill>
                <a:latin typeface="Calibri"/>
              </a:rPr>
              <a:t>Uma plataforma, completa e em conformidade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88136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333942"/>
                </a:solidFill>
                <a:latin typeface="Calibri"/>
              </a:rPr>
              <a:t>Sessões plenárias, processo legislativo, parlamentares, TV Câmara, Escola Legislativa, transparência, ouvidoria/e-SIC, app mobile e IA legislativa — em um só produto, com a lei embutida.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34640"/>
            <a:ext cx="2697480" cy="23774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834640"/>
            <a:ext cx="2697480" cy="118872"/>
          </a:xfrm>
          <a:prstGeom prst="rect">
            <a:avLst/>
          </a:prstGeom>
          <a:solidFill>
            <a:srgbClr val="135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3108960"/>
            <a:ext cx="2368296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351B4"/>
                </a:solidFill>
                <a:latin typeface="Calibri"/>
              </a:rPr>
              <a:t>Tudo integrado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749039"/>
            <a:ext cx="2368296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942"/>
                </a:solidFill>
                <a:latin typeface="Calibri"/>
              </a:rPr>
              <a:t>Módulos legislativos e transversais no mesmo login e dados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56432" y="2834640"/>
            <a:ext cx="2697480" cy="23774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56432" y="2834640"/>
            <a:ext cx="2697480" cy="118872"/>
          </a:xfrm>
          <a:prstGeom prst="rect">
            <a:avLst/>
          </a:prstGeom>
          <a:solidFill>
            <a:srgbClr val="168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1024" y="3108960"/>
            <a:ext cx="2368296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68821"/>
                </a:solidFill>
                <a:latin typeface="Calibri"/>
              </a:rPr>
              <a:t>Conforme a lei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1024" y="3749039"/>
            <a:ext cx="2368296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942"/>
                </a:solidFill>
                <a:latin typeface="Calibri"/>
              </a:rPr>
              <a:t>LAI · Lei 13.460 · LC 131/LRF · LGPD · WCAG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2784" y="2834640"/>
            <a:ext cx="2697480" cy="23774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2784" y="2834640"/>
            <a:ext cx="2697480" cy="118872"/>
          </a:xfrm>
          <a:prstGeom prst="rect">
            <a:avLst/>
          </a:prstGeom>
          <a:solidFill>
            <a:srgbClr val="FFCD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7376" y="3108960"/>
            <a:ext cx="2368296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C326F"/>
                </a:solidFill>
                <a:latin typeface="Calibri"/>
              </a:rPr>
              <a:t>100% PNTP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3749039"/>
            <a:ext cx="2368296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942"/>
                </a:solidFill>
                <a:latin typeface="Calibri"/>
              </a:rPr>
              <a:t>Selo Diamante em transparência pública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89136" y="2834640"/>
            <a:ext cx="2697480" cy="23774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89136" y="2834640"/>
            <a:ext cx="2697480" cy="118872"/>
          </a:xfrm>
          <a:prstGeom prst="rect">
            <a:avLst/>
          </a:prstGeom>
          <a:solidFill>
            <a:srgbClr val="0C3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53728" y="3108960"/>
            <a:ext cx="2368296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C326F"/>
                </a:solidFill>
                <a:latin typeface="Calibri"/>
              </a:rPr>
              <a:t>Multi-tenant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3728" y="3749039"/>
            <a:ext cx="2368296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942"/>
                </a:solidFill>
                <a:latin typeface="Calibri"/>
              </a:rPr>
              <a:t>uma infra serve N câmaras, com identidade própria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6B8"/>
                </a:solidFill>
                <a:latin typeface="Calibri"/>
              </a:rPr>
              <a:t>Lidera Tecnologia e Gestão  ·  Portal da Câmara  ·  www.lideratecnologia.com.br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5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02920"/>
            <a:ext cx="822960" cy="54864"/>
          </a:xfrm>
          <a:prstGeom prst="rect">
            <a:avLst/>
          </a:prstGeom>
          <a:solidFill>
            <a:srgbClr val="FFCD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351B4"/>
                </a:solidFill>
                <a:latin typeface="Calibri"/>
              </a:rPr>
              <a:t>PLATAFORMA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6868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C326F"/>
                </a:solidFill>
                <a:latin typeface="Calibri"/>
              </a:rPr>
              <a:t>Arquitetura segura por projeto</a:t>
            </a:r>
          </a:p>
        </p:txBody>
      </p:sp>
      <p:pic>
        <p:nvPicPr>
          <p:cNvPr id="7" name="Picture 6" descr="arquite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739" y="1691640"/>
            <a:ext cx="7308760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21040" y="2011680"/>
            <a:ext cx="3566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300" b="1">
                <a:solidFill>
                  <a:srgbClr val="1351B4"/>
                </a:solidFill>
                <a:latin typeface="Calibri"/>
              </a:rPr>
              <a:t>▸  </a:t>
            </a:r>
            <a:r>
              <a:rPr sz="1300">
                <a:solidFill>
                  <a:srgbClr val="333942"/>
                </a:solidFill>
                <a:latin typeface="Calibri"/>
              </a:rPr>
              <a:t>Frontend e app falam só com a API (gateway único).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300" b="1">
                <a:solidFill>
                  <a:srgbClr val="1351B4"/>
                </a:solidFill>
                <a:latin typeface="Calibri"/>
              </a:rPr>
              <a:t>▸  </a:t>
            </a:r>
            <a:r>
              <a:rPr sz="1300">
                <a:solidFill>
                  <a:srgbClr val="333942"/>
                </a:solidFill>
                <a:latin typeface="Calibri"/>
              </a:rPr>
              <a:t>Dados isolados por RLS — câmara nunca vê dados de outra.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300" b="1">
                <a:solidFill>
                  <a:srgbClr val="1351B4"/>
                </a:solidFill>
                <a:latin typeface="Calibri"/>
              </a:rPr>
              <a:t>▸  </a:t>
            </a:r>
            <a:r>
              <a:rPr sz="1300">
                <a:solidFill>
                  <a:srgbClr val="333942"/>
                </a:solidFill>
                <a:latin typeface="Calibri"/>
              </a:rPr>
              <a:t>Duas camadas: RBAC (o que pode fazer) + RLS (o que pode ver).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300" b="1">
                <a:solidFill>
                  <a:srgbClr val="1351B4"/>
                </a:solidFill>
                <a:latin typeface="Calibri"/>
              </a:rPr>
              <a:t>▸  </a:t>
            </a:r>
            <a:r>
              <a:rPr sz="1300">
                <a:solidFill>
                  <a:srgbClr val="333942"/>
                </a:solidFill>
                <a:latin typeface="Calibri"/>
              </a:rPr>
              <a:t>Tecnologia moderna, aberta e auditável.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6B8"/>
                </a:solidFill>
                <a:latin typeface="Calibri"/>
              </a:rPr>
              <a:t>Lidera Tecnologia e Gestão  ·  Portal da Câmara  ·  www.lideratecnologia.com.br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5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02920"/>
            <a:ext cx="822960" cy="54864"/>
          </a:xfrm>
          <a:prstGeom prst="rect">
            <a:avLst/>
          </a:prstGeom>
          <a:solidFill>
            <a:srgbClr val="FFCD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351B4"/>
                </a:solidFill>
                <a:latin typeface="Calibri"/>
              </a:rPr>
              <a:t>MODELO SAAS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6868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C326F"/>
                </a:solidFill>
                <a:latin typeface="Calibri"/>
              </a:rPr>
              <a:t>Uma plataforma, muitas câmaras</a:t>
            </a:r>
          </a:p>
        </p:txBody>
      </p:sp>
      <p:pic>
        <p:nvPicPr>
          <p:cNvPr id="7" name="Picture 6" descr="multiten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3199" y="1783080"/>
            <a:ext cx="6155121" cy="301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49377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351B4"/>
                </a:solidFill>
                <a:latin typeface="Calibri"/>
              </a:rPr>
              <a:t>▸  </a:t>
            </a:r>
            <a:r>
              <a:rPr sz="1500">
                <a:solidFill>
                  <a:srgbClr val="333942"/>
                </a:solidFill>
                <a:latin typeface="Calibri"/>
              </a:rPr>
              <a:t>Custo compartilhado entre as câmaras atendidas.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351B4"/>
                </a:solidFill>
                <a:latin typeface="Calibri"/>
              </a:rPr>
              <a:t>▸  </a:t>
            </a:r>
            <a:r>
              <a:rPr sz="1500">
                <a:solidFill>
                  <a:srgbClr val="333942"/>
                </a:solidFill>
                <a:latin typeface="Calibri"/>
              </a:rPr>
              <a:t>Atualizou uma vez → todas recebem (correções legais inclusas).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351B4"/>
                </a:solidFill>
                <a:latin typeface="Calibri"/>
              </a:rPr>
              <a:t>▸  </a:t>
            </a:r>
            <a:r>
              <a:rPr sz="1500">
                <a:solidFill>
                  <a:srgbClr val="333942"/>
                </a:solidFill>
                <a:latin typeface="Calibri"/>
              </a:rPr>
              <a:t>Identidade própria (white-label): cores, logo, domínio e conteúdo.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6B8"/>
                </a:solidFill>
                <a:latin typeface="Calibri"/>
              </a:rPr>
              <a:t>Lidera Tecnologia e Gestão  ·  Portal da Câmara  ·  www.lideratecnologia.com.br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5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02920"/>
            <a:ext cx="822960" cy="54864"/>
          </a:xfrm>
          <a:prstGeom prst="rect">
            <a:avLst/>
          </a:prstGeom>
          <a:solidFill>
            <a:srgbClr val="FFCD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351B4"/>
                </a:solidFill>
                <a:latin typeface="Calibri"/>
              </a:rPr>
              <a:t>PRODUTO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6868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C326F"/>
                </a:solidFill>
                <a:latin typeface="Calibri"/>
              </a:rPr>
              <a:t>Módulos legislativos + transversais, em 6 áreas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828800"/>
            <a:ext cx="3611880" cy="19659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3611880" cy="457200"/>
          </a:xfrm>
          <a:prstGeom prst="rect">
            <a:avLst/>
          </a:prstGeom>
          <a:solidFill>
            <a:srgbClr val="135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874520"/>
            <a:ext cx="3282696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Atividade Legislativa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395728"/>
            <a:ext cx="3282696" cy="1325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942"/>
                </a:solidFill>
                <a:latin typeface="Calibri"/>
              </a:rPr>
              <a:t>Projetos de lei · Tramitação · Votação nominal · Leis/normas · Iniciativa popular · Diário Oficial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828800"/>
            <a:ext cx="3611880" cy="19659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828800"/>
            <a:ext cx="3611880" cy="457200"/>
          </a:xfrm>
          <a:prstGeom prst="rect">
            <a:avLst/>
          </a:prstGeom>
          <a:solidFill>
            <a:srgbClr val="168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2" y="1874520"/>
            <a:ext cx="3282696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Sessões &amp; Parlamentares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2395728"/>
            <a:ext cx="3282696" cy="1325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942"/>
                </a:solidFill>
                <a:latin typeface="Calibri"/>
              </a:rPr>
              <a:t>Pauta · Ata · Presença/frequência · Calendário · TV Câmara · Vereadores · Mesa Diretora · Comissões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1828800"/>
            <a:ext cx="3611880" cy="19659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1828800"/>
            <a:ext cx="3611880" cy="457200"/>
          </a:xfrm>
          <a:prstGeom prst="rect">
            <a:avLst/>
          </a:prstGeom>
          <a:solidFill>
            <a:srgbClr val="B35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2" y="1874520"/>
            <a:ext cx="3282696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Escola Legislativa &amp; PSS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5592" y="2395728"/>
            <a:ext cx="3282696" cy="1325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942"/>
                </a:solidFill>
                <a:latin typeface="Calibri"/>
              </a:rPr>
              <a:t>Cursos · Provas · Certificados com QR + validação · Fórum · PSS (editais/vagas/ranking/APLIC) · Eventos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3941064"/>
            <a:ext cx="3611880" cy="19659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3941064"/>
            <a:ext cx="3611880" cy="45720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3986784"/>
            <a:ext cx="3282696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Cidadão &amp; Participação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" y="4507992"/>
            <a:ext cx="3282696" cy="1325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942"/>
                </a:solidFill>
                <a:latin typeface="Calibri"/>
              </a:rPr>
              <a:t>Ouvidoria/e-SIC · Bot agêntico 24h · WhatsApp · Enquetes · Formulários · App do Cidadão · CMS/Notícias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3941064"/>
            <a:ext cx="3611880" cy="19659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3941064"/>
            <a:ext cx="3611880" cy="457200"/>
          </a:xfrm>
          <a:prstGeom prst="rect">
            <a:avLst/>
          </a:prstGeom>
          <a:solidFill>
            <a:srgbClr val="15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62272" y="3986784"/>
            <a:ext cx="3282696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IA Legislativa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2272" y="4507992"/>
            <a:ext cx="3282696" cy="1325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942"/>
                </a:solidFill>
                <a:latin typeface="Calibri"/>
              </a:rPr>
              <a:t>Busca semântica em leis/projetos · Chatbot da câmara · Triagem de manifestações · Resumo de atas · OCR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01000" y="3941064"/>
            <a:ext cx="3611880" cy="19659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01000" y="3941064"/>
            <a:ext cx="3611880" cy="457200"/>
          </a:xfrm>
          <a:prstGeom prst="rect">
            <a:avLst/>
          </a:prstGeom>
          <a:solidFill>
            <a:srgbClr val="E52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65592" y="3986784"/>
            <a:ext cx="3282696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Conformidade &amp; Segurança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5592" y="4507992"/>
            <a:ext cx="3282696" cy="1325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942"/>
                </a:solidFill>
                <a:latin typeface="Calibri"/>
              </a:rPr>
              <a:t>Transparência/PNTP · LGPD self-service · Sigilo ouvidoria (RBAC+RLS) · Turnstile · WCAG/VLibras · Login gov.br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6B8"/>
                </a:solidFill>
                <a:latin typeface="Calibri"/>
              </a:rPr>
              <a:t>Lidera Tecnologia e Gestão  ·  Portal da Câmara  ·  www.lideratecnologia.com.br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5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02920"/>
            <a:ext cx="822960" cy="54864"/>
          </a:xfrm>
          <a:prstGeom prst="rect">
            <a:avLst/>
          </a:prstGeom>
          <a:solidFill>
            <a:srgbClr val="FFCD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351B4"/>
                </a:solidFill>
                <a:latin typeface="Calibri"/>
              </a:rPr>
              <a:t>MÓDULO DESTAQUE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6868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C326F"/>
                </a:solidFill>
                <a:latin typeface="Calibri"/>
              </a:rPr>
              <a:t>Atendimento Omnichannel com IA — 5 canais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5349240" cy="41148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5349240" cy="457200"/>
          </a:xfrm>
          <a:prstGeom prst="rect">
            <a:avLst/>
          </a:prstGeom>
          <a:solidFill>
            <a:srgbClr val="135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74519"/>
            <a:ext cx="502920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5 canais · 1 caixa unificada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316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351B4"/>
                </a:solidFill>
                <a:latin typeface="Calibri"/>
              </a:rPr>
              <a:t>▸  </a:t>
            </a:r>
            <a:r>
              <a:rPr sz="1300">
                <a:solidFill>
                  <a:srgbClr val="333942"/>
                </a:solidFill>
                <a:latin typeface="Calibri"/>
              </a:rPr>
              <a:t>Site / Widget — ativo por padrao, sem configuracao.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351B4"/>
                </a:solidFill>
                <a:latin typeface="Calibri"/>
              </a:rPr>
              <a:t>▸  </a:t>
            </a:r>
            <a:r>
              <a:rPr sz="1300">
                <a:solidFill>
                  <a:srgbClr val="333942"/>
                </a:solidFill>
                <a:latin typeface="Calibri"/>
              </a:rPr>
              <a:t>WhatsApp API Oficial (Meta) — conformidade com editais.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351B4"/>
                </a:solidFill>
                <a:latin typeface="Calibri"/>
              </a:rPr>
              <a:t>▸  </a:t>
            </a:r>
            <a:r>
              <a:rPr sz="1300">
                <a:solidFill>
                  <a:srgbClr val="333942"/>
                </a:solidFill>
                <a:latin typeface="Calibri"/>
              </a:rPr>
              <a:t>Instagram Direct — perfil profissional da camara.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351B4"/>
                </a:solidFill>
                <a:latin typeface="Calibri"/>
              </a:rPr>
              <a:t>▸  </a:t>
            </a:r>
            <a:r>
              <a:rPr sz="1300">
                <a:solidFill>
                  <a:srgbClr val="333942"/>
                </a:solidFill>
                <a:latin typeface="Calibri"/>
              </a:rPr>
              <a:t>Facebook Messenger — pagina oficial integrada.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351B4"/>
                </a:solidFill>
                <a:latin typeface="Calibri"/>
              </a:rPr>
              <a:t>▸  </a:t>
            </a:r>
            <a:r>
              <a:rPr sz="1300">
                <a:solidFill>
                  <a:srgbClr val="333942"/>
                </a:solidFill>
                <a:latin typeface="Calibri"/>
              </a:rPr>
              <a:t>Telegram — webhook automatico pelo sistema.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828800"/>
            <a:ext cx="5349240" cy="41148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828800"/>
            <a:ext cx="5349240" cy="457200"/>
          </a:xfrm>
          <a:prstGeom prst="rect">
            <a:avLst/>
          </a:prstGeom>
          <a:solidFill>
            <a:srgbClr val="168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874519"/>
            <a:ext cx="502920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Bot de IA 24h + Console do Atendente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42316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351B4"/>
                </a:solidFill>
                <a:latin typeface="Calibri"/>
              </a:rPr>
              <a:t>▸  </a:t>
            </a:r>
            <a:r>
              <a:rPr sz="1300">
                <a:solidFill>
                  <a:srgbClr val="333942"/>
                </a:solidFill>
                <a:latin typeface="Calibri"/>
              </a:rPr>
              <a:t>Responde, abre protocolo e consulta andamento por linguagem natural.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351B4"/>
                </a:solidFill>
                <a:latin typeface="Calibri"/>
              </a:rPr>
              <a:t>▸  </a:t>
            </a:r>
            <a:r>
              <a:rPr sz="1300">
                <a:solidFill>
                  <a:srgbClr val="333942"/>
                </a:solidFill>
                <a:latin typeface="Calibri"/>
              </a:rPr>
              <a:t>Transfere para humano com notificacao imediata.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351B4"/>
                </a:solidFill>
                <a:latin typeface="Calibri"/>
              </a:rPr>
              <a:t>▸  </a:t>
            </a:r>
            <a:r>
              <a:rPr sz="1300">
                <a:solidFill>
                  <a:srgbClr val="333942"/>
                </a:solidFill>
                <a:latin typeface="Calibri"/>
              </a:rPr>
              <a:t>Fila por canal e por setor/comissao — historico completo.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351B4"/>
                </a:solidFill>
                <a:latin typeface="Calibri"/>
              </a:rPr>
              <a:t>▸  </a:t>
            </a:r>
            <a:r>
              <a:rPr sz="1300">
                <a:solidFill>
                  <a:srgbClr val="333942"/>
                </a:solidFill>
                <a:latin typeface="Calibri"/>
              </a:rPr>
              <a:t>Multi-numero. Alerta de creditos de template WhatsApp.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351B4"/>
                </a:solidFill>
                <a:latin typeface="Calibri"/>
              </a:rPr>
              <a:t>▸  </a:t>
            </a:r>
            <a:r>
              <a:rPr sz="1300">
                <a:solidFill>
                  <a:srgbClr val="333942"/>
                </a:solidFill>
                <a:latin typeface="Calibri"/>
              </a:rPr>
              <a:t>Chaves cifradas AES-256-GCM. Isolamento por camara (RLS).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351B4"/>
                </a:solidFill>
                <a:latin typeface="Calibri"/>
              </a:rPr>
              <a:t>▸  </a:t>
            </a:r>
            <a:r>
              <a:rPr sz="1300">
                <a:solidFill>
                  <a:srgbClr val="333942"/>
                </a:solidFill>
                <a:latin typeface="Calibri"/>
              </a:rPr>
              <a:t>API Oficial Meta — diferencial em editais.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6B8"/>
                </a:solidFill>
                <a:latin typeface="Calibri"/>
              </a:rPr>
              <a:t>Lidera Tecnologia e Gestão  ·  Portal da Câmara  ·  www.lideratecnologia.com.br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5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02920"/>
            <a:ext cx="822960" cy="54864"/>
          </a:xfrm>
          <a:prstGeom prst="rect">
            <a:avLst/>
          </a:prstGeom>
          <a:solidFill>
            <a:srgbClr val="FFCD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351B4"/>
                </a:solidFill>
                <a:latin typeface="Calibri"/>
              </a:rPr>
              <a:t>CONFORMIDADE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6868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C326F"/>
                </a:solidFill>
                <a:latin typeface="Calibri"/>
              </a:rPr>
              <a:t>A lei está no núcleo do produto</a:t>
            </a:r>
          </a:p>
        </p:txBody>
      </p:sp>
      <p:pic>
        <p:nvPicPr>
          <p:cNvPr id="7" name="Picture 6" descr="conformid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00372"/>
            <a:ext cx="7040880" cy="27545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55279" y="201168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1351B4"/>
                </a:solidFill>
                <a:latin typeface="Calibri"/>
              </a:rPr>
              <a:t>▸  </a:t>
            </a:r>
            <a:r>
              <a:rPr sz="1400">
                <a:solidFill>
                  <a:srgbClr val="333942"/>
                </a:solidFill>
                <a:latin typeface="Calibri"/>
              </a:rPr>
              <a:t>Prazos legais já configurados: e-SIC 20+10, Ouvidoria 30+30.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1351B4"/>
                </a:solidFill>
                <a:latin typeface="Calibri"/>
              </a:rPr>
              <a:t>▸  </a:t>
            </a:r>
            <a:r>
              <a:rPr sz="1400">
                <a:solidFill>
                  <a:srgbClr val="333942"/>
                </a:solidFill>
                <a:latin typeface="Calibri"/>
              </a:rPr>
              <a:t>Tramitação e votação nominal publicadas com base legal.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1351B4"/>
                </a:solidFill>
                <a:latin typeface="Calibri"/>
              </a:rPr>
              <a:t>▸  </a:t>
            </a:r>
            <a:r>
              <a:rPr sz="1400">
                <a:solidFill>
                  <a:srgbClr val="333942"/>
                </a:solidFill>
                <a:latin typeface="Calibri"/>
              </a:rPr>
              <a:t>Acessibilidade obrigatória: tema reprovado no contraste não salva.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1351B4"/>
                </a:solidFill>
                <a:latin typeface="Calibri"/>
              </a:rPr>
              <a:t>▸  </a:t>
            </a:r>
            <a:r>
              <a:rPr sz="1400">
                <a:solidFill>
                  <a:srgbClr val="333942"/>
                </a:solidFill>
                <a:latin typeface="Calibri"/>
              </a:rPr>
              <a:t>Login do cidadão via gov.br (Login Único).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6B8"/>
                </a:solidFill>
                <a:latin typeface="Calibri"/>
              </a:rPr>
              <a:t>Lidera Tecnologia e Gestão  ·  Portal da Câmara  ·  www.lideratecnologia.com.br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3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CD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CD07"/>
                </a:solidFill>
                <a:latin typeface="Calibri"/>
              </a:rPr>
              <a:t>TRANSPARÊNCIA · PNTP / ATRICON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6868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100% dos critérios — Selo Diamante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0908792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n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153" y="2011680"/>
            <a:ext cx="6271213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34924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33942"/>
                </a:solidFill>
                <a:latin typeface="Calibri"/>
              </a:rPr>
              <a:t>Sua câmara entra no ar já na nota máxima da transparência pública — Receita, Despesa, RH, Licitações, Contratos e produção legislativa em 100%.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5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02920"/>
            <a:ext cx="822960" cy="54864"/>
          </a:xfrm>
          <a:prstGeom prst="rect">
            <a:avLst/>
          </a:prstGeom>
          <a:solidFill>
            <a:srgbClr val="FFCD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351B4"/>
                </a:solidFill>
                <a:latin typeface="Calibri"/>
              </a:rPr>
              <a:t>SEGURANÇA &amp; PRIVACIDADE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6868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C326F"/>
                </a:solidFill>
                <a:latin typeface="Calibri"/>
              </a:rPr>
              <a:t>Dados protegidos e isolados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1351B4"/>
                </a:solidFill>
                <a:latin typeface="Calibri"/>
              </a:rPr>
              <a:t>▸  </a:t>
            </a:r>
            <a:r>
              <a:rPr sz="1500">
                <a:solidFill>
                  <a:srgbClr val="333942"/>
                </a:solidFill>
                <a:latin typeface="Calibri"/>
              </a:rPr>
              <a:t>Isolamento por RLS: cada consulta é restrita à câmara — impossível cruzar dados entre câmaras.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1351B4"/>
                </a:solidFill>
                <a:latin typeface="Calibri"/>
              </a:rPr>
              <a:t>▸  </a:t>
            </a:r>
            <a:r>
              <a:rPr sz="1500">
                <a:solidFill>
                  <a:srgbClr val="333942"/>
                </a:solidFill>
                <a:latin typeface="Calibri"/>
              </a:rPr>
              <a:t>Sigilo jurídico da ouvidoria: RBAC + RLS por papel — denúncias invisíveis até para o administrador da câmara.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1351B4"/>
                </a:solidFill>
                <a:latin typeface="Calibri"/>
              </a:rPr>
              <a:t>▸  </a:t>
            </a:r>
            <a:r>
              <a:rPr sz="1500">
                <a:solidFill>
                  <a:srgbClr val="333942"/>
                </a:solidFill>
                <a:latin typeface="Calibri"/>
              </a:rPr>
              <a:t>Autocadastro de usuário + solicitação de elevação por cargo; ouvidor exige aprovação da operadora e assina termo de sigilo.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1351B4"/>
                </a:solidFill>
                <a:latin typeface="Calibri"/>
              </a:rPr>
              <a:t>▸  </a:t>
            </a:r>
            <a:r>
              <a:rPr sz="1500">
                <a:solidFill>
                  <a:srgbClr val="333942"/>
                </a:solidFill>
                <a:latin typeface="Calibri"/>
              </a:rPr>
              <a:t>Escopo por setor/comissão: servidor só gerencia o conteúdo da sua área.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1351B4"/>
                </a:solidFill>
                <a:latin typeface="Calibri"/>
              </a:rPr>
              <a:t>▸  </a:t>
            </a:r>
            <a:r>
              <a:rPr sz="1500">
                <a:solidFill>
                  <a:srgbClr val="333942"/>
                </a:solidFill>
                <a:latin typeface="Calibri"/>
              </a:rPr>
              <a:t>Cloudflare Turnstile: proteção anti-robô em logins e formulários sem CAPTCHA incômodo.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1351B4"/>
                </a:solidFill>
                <a:latin typeface="Calibri"/>
              </a:rPr>
              <a:t>▸  </a:t>
            </a:r>
            <a:r>
              <a:rPr sz="1500">
                <a:solidFill>
                  <a:srgbClr val="333942"/>
                </a:solidFill>
                <a:latin typeface="Calibri"/>
              </a:rPr>
              <a:t>LGPD por projeto: base legal por finalidade, logs de acesso, auditoria completa.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1351B4"/>
                </a:solidFill>
                <a:latin typeface="Calibri"/>
              </a:rPr>
              <a:t>▸  </a:t>
            </a:r>
            <a:r>
              <a:rPr sz="1500">
                <a:solidFill>
                  <a:srgbClr val="333942"/>
                </a:solidFill>
                <a:latin typeface="Calibri"/>
              </a:rPr>
              <a:t>Borda protegida: Cloudflare Zero Trust + WAF + TLS. Login gov.br para cidadãos.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6B8"/>
                </a:solidFill>
                <a:latin typeface="Calibri"/>
              </a:rPr>
              <a:t>Lidera Tecnologia e Gestão  ·  Portal da Câmara  ·  www.lideratecnologia.com.br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5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02920"/>
            <a:ext cx="822960" cy="54864"/>
          </a:xfrm>
          <a:prstGeom prst="rect">
            <a:avLst/>
          </a:prstGeom>
          <a:solidFill>
            <a:srgbClr val="FFCD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351B4"/>
                </a:solidFill>
                <a:latin typeface="Calibri"/>
              </a:rPr>
              <a:t>CIDADÃO &amp;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6868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C326F"/>
                </a:solidFill>
                <a:latin typeface="Calibri"/>
              </a:rPr>
              <a:t>App do Cidadão + IA Legislativa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5349240" cy="41148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5349240" cy="457200"/>
          </a:xfrm>
          <a:prstGeom prst="rect">
            <a:avLst/>
          </a:prstGeom>
          <a:solidFill>
            <a:srgbClr val="135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74519"/>
            <a:ext cx="502920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📱  App do Cidadão (mobile)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1351B4"/>
                </a:solidFill>
                <a:latin typeface="Calibri"/>
              </a:rPr>
              <a:t>▸  </a:t>
            </a:r>
            <a:r>
              <a:rPr sz="1350">
                <a:solidFill>
                  <a:srgbClr val="333942"/>
                </a:solidFill>
                <a:latin typeface="Calibri"/>
              </a:rPr>
              <a:t>Acompanhe sessões, pauta, votação nominal e a TV Câmara.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1351B4"/>
                </a:solidFill>
                <a:latin typeface="Calibri"/>
              </a:rPr>
              <a:t>▸  </a:t>
            </a:r>
            <a:r>
              <a:rPr sz="1350">
                <a:solidFill>
                  <a:srgbClr val="333942"/>
                </a:solidFill>
                <a:latin typeface="Calibri"/>
              </a:rPr>
              <a:t>Consulte projetos de lei, tramitação e leis publicadas.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1351B4"/>
                </a:solidFill>
                <a:latin typeface="Calibri"/>
              </a:rPr>
              <a:t>▸  </a:t>
            </a:r>
            <a:r>
              <a:rPr sz="1350">
                <a:solidFill>
                  <a:srgbClr val="333942"/>
                </a:solidFill>
                <a:latin typeface="Calibri"/>
              </a:rPr>
              <a:t>Manifestações de ouvidoria/e-SIC e notificações (push).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1351B4"/>
                </a:solidFill>
                <a:latin typeface="Calibri"/>
              </a:rPr>
              <a:t>▸  </a:t>
            </a:r>
            <a:r>
              <a:rPr sz="1350">
                <a:solidFill>
                  <a:srgbClr val="333942"/>
                </a:solidFill>
                <a:latin typeface="Calibri"/>
              </a:rPr>
              <a:t>Login gov.br · tema da câmara (white-label).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828800"/>
            <a:ext cx="5349240" cy="41148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828800"/>
            <a:ext cx="5349240" cy="457200"/>
          </a:xfrm>
          <a:prstGeom prst="rect">
            <a:avLst/>
          </a:prstGeom>
          <a:solidFill>
            <a:srgbClr val="168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874519"/>
            <a:ext cx="502920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🤖  IA Legislativa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46888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1351B4"/>
                </a:solidFill>
                <a:latin typeface="Calibri"/>
              </a:rPr>
              <a:t>▸  </a:t>
            </a:r>
            <a:r>
              <a:rPr sz="1350">
                <a:solidFill>
                  <a:srgbClr val="333942"/>
                </a:solidFill>
                <a:latin typeface="Calibri"/>
              </a:rPr>
              <a:t>Busca semântica em leis e projetos (palavra + significado) + OCR de PDFs antigos.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1351B4"/>
                </a:solidFill>
                <a:latin typeface="Calibri"/>
              </a:rPr>
              <a:t>▸  </a:t>
            </a:r>
            <a:r>
              <a:rPr sz="1350">
                <a:solidFill>
                  <a:srgbClr val="333942"/>
                </a:solidFill>
                <a:latin typeface="Calibri"/>
              </a:rPr>
              <a:t>Chatbot da câmara treinável pelo gestor: artigos livres viram conhecimento da IA.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1351B4"/>
                </a:solidFill>
                <a:latin typeface="Calibri"/>
              </a:rPr>
              <a:t>▸  </a:t>
            </a:r>
            <a:r>
              <a:rPr sz="1350">
                <a:solidFill>
                  <a:srgbClr val="333942"/>
                </a:solidFill>
                <a:latin typeface="Calibri"/>
              </a:rPr>
              <a:t>Bot agêntico: abre protocolo e consulta tramitação por linguagem natural.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1351B4"/>
                </a:solidFill>
                <a:latin typeface="Calibri"/>
              </a:rPr>
              <a:t>▸  </a:t>
            </a:r>
            <a:r>
              <a:rPr sz="1350">
                <a:solidFill>
                  <a:srgbClr val="333942"/>
                </a:solidFill>
                <a:latin typeface="Calibri"/>
              </a:rPr>
              <a:t>Triagem de manifestações, resumo de atas e moderação automática.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6B8"/>
                </a:solidFill>
                <a:latin typeface="Calibri"/>
              </a:rPr>
              <a:t>Lidera Tecnologia e Gestão  ·  Portal da Câmara  ·  www.lideratecnologia.com.br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5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02920"/>
            <a:ext cx="822960" cy="54864"/>
          </a:xfrm>
          <a:prstGeom prst="rect">
            <a:avLst/>
          </a:prstGeom>
          <a:solidFill>
            <a:srgbClr val="FFCD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351B4"/>
                </a:solidFill>
                <a:latin typeface="Calibri"/>
              </a:rPr>
              <a:t>PROVA DE ENTREGA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6868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C326F"/>
                </a:solidFill>
                <a:latin typeface="Calibri"/>
              </a:rPr>
              <a:t>Caso real — Câmara de Barão de Melgaço (MT)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88136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333942"/>
                </a:solidFill>
                <a:latin typeface="Calibri"/>
              </a:rPr>
              <a:t>Site legado (Joomla) migrado integralmente para a plataforma, preservando histórico e SEO: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51760"/>
            <a:ext cx="2697480" cy="18288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269748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1351B4"/>
                </a:solidFill>
                <a:latin typeface="Calibri"/>
              </a:rPr>
              <a:t>455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94760"/>
            <a:ext cx="26974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942"/>
                </a:solidFill>
                <a:latin typeface="Calibri"/>
              </a:rPr>
              <a:t>notícias migradas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6432" y="2651760"/>
            <a:ext cx="2697480" cy="18288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6432" y="2834640"/>
            <a:ext cx="269748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1351B4"/>
                </a:solidFill>
                <a:latin typeface="Calibri"/>
              </a:rPr>
              <a:t>1.180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432" y="3794760"/>
            <a:ext cx="26974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942"/>
                </a:solidFill>
                <a:latin typeface="Calibri"/>
              </a:rPr>
              <a:t>documentos migrados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2784" y="2651760"/>
            <a:ext cx="2697480" cy="18288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4" y="2834640"/>
            <a:ext cx="269748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1351B4"/>
                </a:solidFill>
                <a:latin typeface="Calibri"/>
              </a:rPr>
              <a:t>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2784" y="3794760"/>
            <a:ext cx="26974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942"/>
                </a:solidFill>
                <a:latin typeface="Calibri"/>
              </a:rPr>
              <a:t>setores/comissões publicados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89136" y="2651760"/>
            <a:ext cx="2697480" cy="18288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89136" y="2834640"/>
            <a:ext cx="269748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1351B4"/>
                </a:solidFill>
                <a:latin typeface="Calibri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89136" y="3794760"/>
            <a:ext cx="26974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942"/>
                </a:solidFill>
                <a:latin typeface="Calibri"/>
              </a:rPr>
              <a:t>critérios PNTP (Diamante)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846320"/>
            <a:ext cx="1088136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556070"/>
                </a:solidFill>
                <a:latin typeface="Calibri"/>
              </a:rPr>
              <a:t>Também migrados o institucional, a galeria e o acervo de leis/normas — com redirecionamentos que preservam os links indexados pelo Google.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6B8"/>
                </a:solidFill>
                <a:latin typeface="Calibri"/>
              </a:rPr>
              <a:t>Lidera Tecnologia e Gestão  ·  Portal da Câmara  ·  www.lideratecnologia.com.br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5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02920"/>
            <a:ext cx="822960" cy="54864"/>
          </a:xfrm>
          <a:prstGeom prst="rect">
            <a:avLst/>
          </a:prstGeom>
          <a:solidFill>
            <a:srgbClr val="FFCD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351B4"/>
                </a:solidFill>
                <a:latin typeface="Calibri"/>
              </a:rPr>
              <a:t>IMPLANTAÇÃO &amp;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6868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C326F"/>
                </a:solidFill>
                <a:latin typeface="Calibri"/>
              </a:rPr>
              <a:t>Roda onde a câmara precisar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1351B4"/>
                </a:solidFill>
                <a:latin typeface="Calibri"/>
              </a:rPr>
              <a:t>▸  </a:t>
            </a:r>
            <a:r>
              <a:rPr sz="1500">
                <a:solidFill>
                  <a:srgbClr val="333942"/>
                </a:solidFill>
                <a:latin typeface="Calibri"/>
              </a:rPr>
              <a:t>Nuvem gerenciada (Google Cloud / AWS) — provisionada por Terraform.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1351B4"/>
                </a:solidFill>
                <a:latin typeface="Calibri"/>
              </a:rPr>
              <a:t>▸  </a:t>
            </a:r>
            <a:r>
              <a:rPr sz="1500">
                <a:solidFill>
                  <a:srgbClr val="333942"/>
                </a:solidFill>
                <a:latin typeface="Calibri"/>
              </a:rPr>
              <a:t>On-premise (Windows / Linux / Docker) — no servidor da câmara.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1351B4"/>
                </a:solidFill>
                <a:latin typeface="Calibri"/>
              </a:rPr>
              <a:t>▸  </a:t>
            </a:r>
            <a:r>
              <a:rPr sz="1500">
                <a:solidFill>
                  <a:srgbClr val="333942"/>
                </a:solidFill>
                <a:latin typeface="Calibri"/>
              </a:rPr>
              <a:t>Migração do site atual sem perder histórico nem SEO.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1351B4"/>
                </a:solidFill>
                <a:latin typeface="Calibri"/>
              </a:rPr>
              <a:t>▸  </a:t>
            </a:r>
            <a:r>
              <a:rPr sz="1500">
                <a:solidFill>
                  <a:srgbClr val="333942"/>
                </a:solidFill>
                <a:latin typeface="Calibri"/>
              </a:rPr>
              <a:t>Treinamento das equipes e suporte continuado.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1351B4"/>
                </a:solidFill>
                <a:latin typeface="Calibri"/>
              </a:rPr>
              <a:t>▸  </a:t>
            </a:r>
            <a:r>
              <a:rPr sz="1500">
                <a:solidFill>
                  <a:srgbClr val="333942"/>
                </a:solidFill>
                <a:latin typeface="Calibri"/>
              </a:rPr>
              <a:t>Fases concluídas: Fundação · Transparência · Legislativo+CMS · Diário Oficial · IA Legislativa.</a:t>
            </a:r>
          </a:p>
        </p:txBody>
      </p:sp>
      <p:pic>
        <p:nvPicPr>
          <p:cNvPr id="8" name="Picture 7" descr="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8161" y="4297680"/>
            <a:ext cx="7065197" cy="20116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6B8"/>
                </a:solidFill>
                <a:latin typeface="Calibri"/>
              </a:rPr>
              <a:t>Lidera Tecnologia e Gestão  ·  Portal da Câmara  ·  www.lideratecnologia.com.br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3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CD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68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lidera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545722"/>
            <a:ext cx="1371600" cy="13774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2377440"/>
            <a:ext cx="1033272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Vamos modernizar a sua câmara?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DDE6F6"/>
                </a:solidFill>
                <a:latin typeface="Calibri"/>
              </a:rPr>
              <a:t>Agende uma demonstração gratuita e veja o portal funcionando com os dados da sua câmara.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80560"/>
            <a:ext cx="1033272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CD07"/>
                </a:solidFill>
                <a:latin typeface="Calibri"/>
              </a:rPr>
              <a:t>✉  comercial@lideratecnologia.com.br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CFDAEE"/>
                </a:solidFill>
                <a:latin typeface="Calibri"/>
              </a:rPr>
              <a:t>🌐  www.lideratecnologia.com.br      🔗  Demonstração ao vivo: camara.lidera.app.br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A9B6CC"/>
                </a:solidFill>
                <a:latin typeface="Calibri"/>
              </a:rPr>
              <a:t>Lidera Tecnologia e Gestão  ·  Investimento sob consulta, conforme o porte da câmara.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